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91440" cy="46634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2743200"/>
            <a:ext cx="3657600" cy="3657600"/>
          </a:xfrm>
          <a:prstGeom prst="ellipse">
            <a:avLst/>
          </a:prstGeom>
          <a:solidFill>
            <a:srgbClr val="0077FF">
              <a:alpha val="12000"/>
            </a:srgbClr>
          </a:solidFill>
          <a:ln w="12700">
            <a:solidFill>
              <a:srgbClr val="0077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972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AquaSync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Control System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· AI-Driven · Water-Efficient · IoT-Enabled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00C2A8">
              <a:alpha val="2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576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IoT Architecture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3657600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0077FF">
              <a:alpha val="25000"/>
            </a:srgbClr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36576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Zero-Vulnerability Design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3657600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36576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Water Savings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217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AquaSync R&amp;D Team  |  April 2026  |  Version 2.4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agriculture wastes 60% of irrigation water due to outdated systems and poor monitoring.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91440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Wasted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85292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flood/sprinkler systems with no feedback loop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645920"/>
            <a:ext cx="9144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₹4.2T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400800" y="25146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Loss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85292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agriculture due to poor water management annually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49040"/>
            <a:ext cx="91440" cy="1828800"/>
          </a:xfrm>
          <a:prstGeom prst="rect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31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731520" y="46177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Loss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95604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both over-irrigation and under-irrigation stress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74904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3749040"/>
            <a:ext cx="91440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931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400800" y="46177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495604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have no encryption, no auth, no audit trail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in Existing Systems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security and functional flaws identified across 12 published IoT irrigation projects: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577840" cy="1097280"/>
          </a:xfrm>
          <a:prstGeom prst="rect">
            <a:avLst/>
          </a:prstGeom>
          <a:solidFill>
            <a:srgbClr val="1B2C3E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08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0756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APIs accessible without credentials — any device can inject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1097280" cy="27432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54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577840" cy="1097280"/>
          </a:xfrm>
          <a:prstGeom prst="rect">
            <a:avLst/>
          </a:prstGeom>
          <a:solidFill>
            <a:srgbClr val="1B2C3E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508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MQTT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20756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transmitted in cleartext over public brokers; trivially interceptable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15600" y="1554480"/>
            <a:ext cx="1097280" cy="27432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0" y="1554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5577840" cy="1097280"/>
          </a:xfrm>
          <a:prstGeom prst="rect">
            <a:avLst/>
          </a:prstGeom>
          <a:solidFill>
            <a:srgbClr val="1B2C3E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Input Validation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3101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and buffer overflow in backend sensor ingestion endpoints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788920"/>
            <a:ext cx="1097280" cy="27432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2651760"/>
            <a:ext cx="5577840" cy="1097280"/>
          </a:xfrm>
          <a:prstGeom prst="rect">
            <a:avLst/>
          </a:prstGeom>
          <a:solidFill>
            <a:srgbClr val="1B2C3E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Attacks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33101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commands can be captured and resent — attackers flood or dry fields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515600" y="2788920"/>
            <a:ext cx="1097280" cy="27432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886200"/>
            <a:ext cx="5577840" cy="1097280"/>
          </a:xfrm>
          <a:prstGeom prst="rect">
            <a:avLst/>
          </a:prstGeom>
          <a:solidFill>
            <a:srgbClr val="1B2C3E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9776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Unsigned Firmware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" y="45445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updates accepted without signature verification — trivial malware injection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4023360"/>
            <a:ext cx="1097280" cy="27432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023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3886200"/>
            <a:ext cx="5577840" cy="1097280"/>
          </a:xfrm>
          <a:prstGeom prst="rect">
            <a:avLst/>
          </a:prstGeom>
          <a:solidFill>
            <a:srgbClr val="1B2C3E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55080" y="39776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55080" y="45445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passwords and API keys embedded in firmware; reversible in under 5 minutes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515600" y="4023360"/>
            <a:ext cx="1097280" cy="27432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15600" y="4023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5120640"/>
            <a:ext cx="5577840" cy="1097280"/>
          </a:xfrm>
          <a:prstGeom prst="rect">
            <a:avLst/>
          </a:prstGeom>
          <a:solidFill>
            <a:srgbClr val="1B2C3E"/>
          </a:solidFill>
          <a:ln w="12700">
            <a:solidFill>
              <a:srgbClr val="A0A0A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02920" y="5212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5486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Limiting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02920" y="57790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attacks shut down monitoring servers in seconds with minimal traffic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5257800"/>
            <a:ext cx="1097280" cy="274320"/>
          </a:xfrm>
          <a:prstGeom prst="rect">
            <a:avLst/>
          </a:prstGeom>
          <a:solidFill>
            <a:srgbClr val="A0A0A0">
              <a:alpha val="30000"/>
            </a:srgbClr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5257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5120640"/>
            <a:ext cx="5577840" cy="1097280"/>
          </a:xfrm>
          <a:prstGeom prst="rect">
            <a:avLst/>
          </a:prstGeom>
          <a:solidFill>
            <a:srgbClr val="1B2C3E"/>
          </a:solidFill>
          <a:ln w="12700">
            <a:solidFill>
              <a:srgbClr val="A0A0A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355080" y="5212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55080" y="5486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Storage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355080" y="57790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data stored in plaintext SQLite; exposes farm intelligence to competitors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515600" y="5257800"/>
            <a:ext cx="1097280" cy="274320"/>
          </a:xfrm>
          <a:prstGeom prst="rect">
            <a:avLst/>
          </a:prstGeom>
          <a:solidFill>
            <a:srgbClr val="A0A0A0">
              <a:alpha val="30000"/>
            </a:srgbClr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15600" y="5257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AquaSync: Our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005840"/>
            <a:ext cx="9966960" cy="914400"/>
          </a:xfrm>
          <a:prstGeom prst="rect">
            <a:avLst/>
          </a:prstGeom>
          <a:solidFill>
            <a:srgbClr val="00C2A8">
              <a:alpha val="15000"/>
            </a:srgbClr>
          </a:solidFill>
          <a:ln w="12700">
            <a:solidFill>
              <a:srgbClr val="00C2A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005840"/>
            <a:ext cx="109728" cy="914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Layer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4447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Soil · Temp · Flow · pH · Pressure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920240"/>
            <a:ext cx="0" cy="164592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03120"/>
            <a:ext cx="9966960" cy="914400"/>
          </a:xfrm>
          <a:prstGeom prst="rect">
            <a:avLst/>
          </a:prstGeom>
          <a:solidFill>
            <a:srgbClr val="0077FF">
              <a:alpha val="15000"/>
            </a:srgbClr>
          </a:solidFill>
          <a:ln w="12700">
            <a:solidFill>
              <a:srgbClr val="0077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2103120"/>
            <a:ext cx="109728" cy="914400"/>
          </a:xfrm>
          <a:prstGeom prst="rect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176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Layer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54203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TLS-MQTT · LoRaWAN · Ed25519 Signed Payloads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3017520"/>
            <a:ext cx="0" cy="164592"/>
          </a:xfrm>
          <a:prstGeom prst="line">
            <a:avLst/>
          </a:prstGeom>
          <a:noFill/>
          <a:ln w="25400">
            <a:solidFill>
              <a:srgbClr val="0077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200400"/>
            <a:ext cx="9966960" cy="914400"/>
          </a:xfrm>
          <a:prstGeom prst="rect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3200400"/>
            <a:ext cx="109728" cy="9144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273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63931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PostgreSQL · JWT + RBAC · Rate-limiting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4114800"/>
            <a:ext cx="0" cy="164592"/>
          </a:xfrm>
          <a:prstGeom prst="line">
            <a:avLst/>
          </a:prstGeom>
          <a:noFill/>
          <a:ln w="25400">
            <a:solidFill>
              <a:srgbClr val="6C63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4297680"/>
            <a:ext cx="9966960" cy="914400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7280" y="4297680"/>
            <a:ext cx="109728" cy="914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3708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AI/Analytics Layer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7365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Scheduler · Weather API · Anomaly Detection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5212080"/>
            <a:ext cx="0" cy="164592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5394960"/>
            <a:ext cx="9966960" cy="914400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7280" y="5394960"/>
            <a:ext cx="109728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5468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583387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· React · Mobile App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10-layer defense-in-depth model — every vulnerability from legacy systems patched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669280" cy="96012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0C2A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farmer, agronomist, admin. No shared credentials.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669280" cy="96012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0C2A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417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40880" y="14173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Everywhere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MQTT, HTTP, WebSocket traffic encrypted. CA-signed certificates.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5669280" cy="96012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0C2A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514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✍️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25146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Signatures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880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sensor reading cryptographically signed. Forgery detectable instantly.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423160"/>
            <a:ext cx="5669280" cy="96012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0C2A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2514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40880" y="25146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Anti-Replay Nonces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2880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+ 5-min timestamp window. Valve commands cannot be replayed.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5669280" cy="96012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0C2A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6118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97280" y="36118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977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sensor data encrypted at rest with authenticated encryption.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3520440"/>
            <a:ext cx="5669280" cy="96012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0C2A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36118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🚦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40880" y="36118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3977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req/min on auth, 300 global. DDoS mitigation built-in.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5669280" cy="96012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0C2A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47091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97280" y="47091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5074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logged with user ID, timestamp, zone, action.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4617720"/>
            <a:ext cx="5669280" cy="96012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0C2A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46520" y="47091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040880" y="47091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OTA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40880" y="5074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updates verified with Ed25519 before application. Rollback support.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5715000"/>
            <a:ext cx="5669280" cy="96012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0C2A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" y="5806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097280" y="5806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97280" y="6172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 schemas on every endpoint. SQL injection and XSS impossible.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5715000"/>
            <a:ext cx="5669280" cy="96012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0C2A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46520" y="5806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040880" y="5806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Key Storage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40880" y="6172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keys in ESP32 NVS secure partition. Never transmitted.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Network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657600" cy="10972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 Soil Moisture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64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SEN0193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0–100% VWC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8712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28712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105156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0" y="1051560"/>
            <a:ext cx="3657600" cy="109728"/>
          </a:xfrm>
          <a:prstGeom prst="rect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280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Humidity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43400" y="1764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DHT22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2103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3400" y="2487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-40–80°C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43400" y="28712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28712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±0.5°C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105156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1051560"/>
            <a:ext cx="3657600" cy="10972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1280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Hall-Effect Flow Meter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83880" y="1764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YF-S201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83880" y="2103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3544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83880" y="2487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35440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1–30 L/min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83880" y="28712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35440" y="28712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74904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749040"/>
            <a:ext cx="365760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977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Transducer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2920" y="4462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MPX5700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4800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55448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51846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554480" y="5184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0–700 kPa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55686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554480" y="55686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±2.5%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06240" y="374904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06240" y="3749040"/>
            <a:ext cx="36576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3400" y="3977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Tipping Bucket Rain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343400" y="4462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RG11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343400" y="4800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9496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343400" y="51846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94960" y="5184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0–300 mm/hr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343400" y="55686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94960" y="55686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046720" y="374904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046720" y="3749040"/>
            <a:ext cx="365760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83880" y="3977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pH Sensor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183880" y="4462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E-201C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183880" y="4800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23544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183880" y="51846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235440" y="5184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0–14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183880" y="55686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235440" y="55686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±0.1 pH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943600" cy="1143000"/>
          </a:xfrm>
          <a:prstGeom prst="rect">
            <a:avLst/>
          </a:prstGeom>
          <a:solidFill>
            <a:srgbClr val="1B2C3E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1143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Evapotranspiration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FAO-56 Penman-Monteith + ML correction. Estimates crop water demand with 94% accuracy.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5943600" cy="1143000"/>
          </a:xfrm>
          <a:prstGeom prst="rect">
            <a:avLst/>
          </a:prstGeom>
          <a:solidFill>
            <a:srgbClr val="1B2C3E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91440" cy="1143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688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+ OpenWeather 48h forecast. Rain bypass saves 340L per event on average.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943600" cy="1143000"/>
          </a:xfrm>
          <a:prstGeom prst="rect">
            <a:avLst/>
          </a:prstGeom>
          <a:solidFill>
            <a:srgbClr val="1B2C3E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91440" cy="1143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4904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160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algorithm detects leaks, sensor failures, and abnormal flow in &lt; 2 seconds.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937760"/>
            <a:ext cx="5943600" cy="1143000"/>
          </a:xfrm>
          <a:prstGeom prst="rect">
            <a:avLst/>
          </a:prstGeom>
          <a:solidFill>
            <a:srgbClr val="1B2C3E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937760"/>
            <a:ext cx="91440" cy="1143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029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Optimizer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4406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LSTM-based neural network trains on 90-day sensor history. Adapts to crop growth stages.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1097280"/>
            <a:ext cx="4846320" cy="1188720"/>
          </a:xfrm>
          <a:prstGeom prst="rect">
            <a:avLst/>
          </a:prstGeom>
          <a:solidFill>
            <a:srgbClr val="1B2C3E"/>
          </a:solidFill>
          <a:ln w="12700">
            <a:solidFill>
              <a:srgbClr val="00C2A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0" y="11887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7040880" y="1755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1993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unmanaged traditional system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2468880"/>
            <a:ext cx="4846320" cy="1188720"/>
          </a:xfrm>
          <a:prstGeom prst="rect">
            <a:avLst/>
          </a:prstGeom>
          <a:solidFill>
            <a:srgbClr val="1B2C3E"/>
          </a:solidFill>
          <a:ln w="12700">
            <a:solidFill>
              <a:srgbClr val="A855F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40880" y="2560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7040880" y="31272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schedule prediction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3840480"/>
            <a:ext cx="4846320" cy="1188720"/>
          </a:xfrm>
          <a:prstGeom prst="rect">
            <a:avLst/>
          </a:prstGeom>
          <a:solidFill>
            <a:srgbClr val="1B2C3E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040880" y="39319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7040880" y="44988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Latency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4736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anomaly detection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5212080"/>
            <a:ext cx="4846320" cy="1188720"/>
          </a:xfrm>
          <a:prstGeom prst="rect">
            <a:avLst/>
          </a:prstGeom>
          <a:solidFill>
            <a:srgbClr val="1B2C3E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40880" y="53035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5yr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7040880" y="5870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Payback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40880" y="61081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hardware + installation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ESP32-S3 Node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Soil Moisture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6060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Temperature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1089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Flow Meter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6118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pH Sensor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114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Rain Gauge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617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Pressure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5120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Valve Controller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22860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0" y="2286000"/>
            <a:ext cx="2560320" cy="384048"/>
          </a:xfrm>
          <a:prstGeom prst="rect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2860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2788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MQTT Broker (TLS)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94760" y="3154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LoRaWAN Bridge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4760" y="3520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OTA Manager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3886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Local Failsafe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005840"/>
            <a:ext cx="2560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1005840"/>
            <a:ext cx="256032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005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15544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Node.js 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20574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PostgreSQL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2560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JWT Auth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3063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AES-256 Encryption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95160" y="35661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Audit Logs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95160" y="4069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RBAC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95160" y="45720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AI Engine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95160" y="50749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Alert System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784080" y="228600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784080" y="2286000"/>
            <a:ext cx="210312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84080" y="22860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921240" y="2788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React Web App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921240" y="3154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Mobile App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2124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Alerts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921240" y="3886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Reports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17520" y="3108960"/>
            <a:ext cx="64008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3108960"/>
            <a:ext cx="640080" cy="0"/>
          </a:xfrm>
          <a:prstGeom prst="line">
            <a:avLst/>
          </a:prstGeom>
          <a:noFill/>
          <a:ln w="25400">
            <a:solidFill>
              <a:srgbClr val="0077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18320" y="3108960"/>
            <a:ext cx="3657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0" y="28346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A8"/>
                </a:solidFill>
              </a:rPr>
              <a:t>TLS/MQTT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72200" y="28346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7FF"/>
                </a:solidFill>
              </a:rPr>
              <a:t>HTTPS/WSS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372600" y="28346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HTTPS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deployment: 3 farms, Haryana, India · 6-month evaluation (Oct 2025 – Mar 2026)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3657600" cy="914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40.3%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Reduction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291840" cy="16459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43200"/>
            <a:ext cx="1316736" cy="1645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37160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371600"/>
            <a:ext cx="365760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554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₹34K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48056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/ Farm / Year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2743200"/>
            <a:ext cx="3291840" cy="16459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2743200"/>
            <a:ext cx="2238451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37160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371600"/>
            <a:ext cx="3657600" cy="91440"/>
          </a:xfrm>
          <a:prstGeom prst="rect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554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41248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Improvement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412480" y="2743200"/>
            <a:ext cx="3291840" cy="16459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2743200"/>
            <a:ext cx="1777594" cy="164592"/>
          </a:xfrm>
          <a:prstGeom prst="rect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56616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566160"/>
            <a:ext cx="36576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49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3291840" cy="16459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937760"/>
            <a:ext cx="329184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0" y="356616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0" y="3566160"/>
            <a:ext cx="365760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3749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448056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480560" y="4937760"/>
            <a:ext cx="3291840" cy="16459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4937760"/>
            <a:ext cx="3258922" cy="1645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356616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0" y="3566160"/>
            <a:ext cx="365760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3749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841248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Response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412480" y="4937760"/>
            <a:ext cx="3291840" cy="16459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0" y="4937760"/>
            <a:ext cx="2798064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AquaSync vs Existing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92608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005840"/>
            <a:ext cx="164592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00584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1005840"/>
            <a:ext cx="173736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00584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Timer-based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005840"/>
            <a:ext cx="173736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00584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78240" y="1005840"/>
            <a:ext cx="2377440" cy="438912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10058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AquaSync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508760"/>
            <a:ext cx="292608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087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1508760"/>
            <a:ext cx="164592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5087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1508760"/>
            <a:ext cx="173736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508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1508760"/>
            <a:ext cx="173736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508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78240" y="1508760"/>
            <a:ext cx="2377440" cy="502920"/>
          </a:xfrm>
          <a:prstGeom prst="rect">
            <a:avLst/>
          </a:prstGeom>
          <a:solidFill>
            <a:srgbClr val="0D2820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1508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JWT+RBAC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075688"/>
            <a:ext cx="29260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07568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Comms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2075688"/>
            <a:ext cx="1645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07568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20640" y="2075688"/>
            <a:ext cx="1737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07568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2075688"/>
            <a:ext cx="1737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207568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78240" y="2075688"/>
            <a:ext cx="2377440" cy="502920"/>
          </a:xfrm>
          <a:prstGeom prst="rect">
            <a:avLst/>
          </a:prstGeom>
          <a:solidFill>
            <a:srgbClr val="0D2820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0" y="20756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TLS 1.3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2642616"/>
            <a:ext cx="292608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6426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Firmware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83280" y="2642616"/>
            <a:ext cx="164592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264261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120640" y="2642616"/>
            <a:ext cx="173736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264261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49440" y="2642616"/>
            <a:ext cx="173736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264261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778240" y="2642616"/>
            <a:ext cx="2377440" cy="502920"/>
          </a:xfrm>
          <a:prstGeom prst="rect">
            <a:avLst/>
          </a:prstGeom>
          <a:solidFill>
            <a:srgbClr val="0D2820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0" y="264261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Ed25519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3209544"/>
            <a:ext cx="29260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20954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Scheduling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383280" y="3209544"/>
            <a:ext cx="1645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320954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120640" y="3209544"/>
            <a:ext cx="1737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0" y="320954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949440" y="3209544"/>
            <a:ext cx="1737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40880" y="320954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778240" y="3209544"/>
            <a:ext cx="2377440" cy="502920"/>
          </a:xfrm>
          <a:prstGeom prst="rect">
            <a:avLst/>
          </a:prstGeom>
          <a:solidFill>
            <a:srgbClr val="0D2820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69680" y="32095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ML Model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65760" y="3776472"/>
            <a:ext cx="292608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77647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383280" y="3776472"/>
            <a:ext cx="164592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0" y="37764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120640" y="3776472"/>
            <a:ext cx="173736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12080" y="37764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949440" y="3776472"/>
            <a:ext cx="173736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40880" y="37764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778240" y="3776472"/>
            <a:ext cx="2377440" cy="502920"/>
          </a:xfrm>
          <a:prstGeom prst="rect">
            <a:avLst/>
          </a:prstGeom>
          <a:solidFill>
            <a:srgbClr val="0D2820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69680" y="37764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65760" y="4343400"/>
            <a:ext cx="29260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343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Integration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383280" y="4343400"/>
            <a:ext cx="1645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0" y="4343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120640" y="4343400"/>
            <a:ext cx="1737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12080" y="4343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949440" y="4343400"/>
            <a:ext cx="1737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40880" y="4343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778240" y="4343400"/>
            <a:ext cx="2377440" cy="502920"/>
          </a:xfrm>
          <a:prstGeom prst="rect">
            <a:avLst/>
          </a:prstGeom>
          <a:solidFill>
            <a:srgbClr val="0D2820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869680" y="4343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API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65760" y="4910328"/>
            <a:ext cx="292608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49103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Saving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383280" y="4910328"/>
            <a:ext cx="164592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74720" y="491032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120640" y="4910328"/>
            <a:ext cx="173736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212080" y="491032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949440" y="4910328"/>
            <a:ext cx="173736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40880" y="491032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8778240" y="4910328"/>
            <a:ext cx="2377440" cy="502920"/>
          </a:xfrm>
          <a:prstGeom prst="rect">
            <a:avLst/>
          </a:prstGeom>
          <a:solidFill>
            <a:srgbClr val="0D2820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869680" y="49103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365760" y="5477256"/>
            <a:ext cx="29260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7200" y="54772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IoT Compliance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3383280" y="5477256"/>
            <a:ext cx="1645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474720" y="547725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5120640" y="5477256"/>
            <a:ext cx="1737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212080" y="547725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949440" y="5477256"/>
            <a:ext cx="1737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040880" y="547725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8778240" y="5477256"/>
            <a:ext cx="2377440" cy="502920"/>
          </a:xfrm>
          <a:prstGeom prst="rect">
            <a:avLst/>
          </a:prstGeom>
          <a:solidFill>
            <a:srgbClr val="0D2820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869680" y="547725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5029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37360" y="1005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procurement &amp; sensor calibration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+ database schema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 TLS configuration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farm installation (3 zones)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760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005840"/>
            <a:ext cx="27432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005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1005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1031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training (90-day baseline)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8803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 integration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657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system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44348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dashboard (beta)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5760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005840"/>
            <a:ext cx="27432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BB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005840"/>
            <a:ext cx="2743200" cy="502920"/>
          </a:xfrm>
          <a:prstGeom prst="rect">
            <a:avLst/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005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89520" y="1005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Harden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21031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Multi-farm rollout (50 farms)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28803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long-range sensor nodes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657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compliance audit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44348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partner integrations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5760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44000" y="1005840"/>
            <a:ext cx="27432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BB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44000" y="1005840"/>
            <a:ext cx="2743200" cy="502920"/>
          </a:xfrm>
          <a:prstGeom prst="rect">
            <a:avLst/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1005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IV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515600" y="1005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23544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235440" y="21031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model launch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35440" y="28803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for agri-data analytics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35440" y="3657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crop advisory module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35440" y="44348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100" dirty="0">
                <a:solidFill>
                  <a:srgbClr val="1B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601200" y="5760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657600"/>
            <a:ext cx="5486400" cy="5486400"/>
          </a:xfrm>
          <a:prstGeom prst="ellipse">
            <a:avLst/>
          </a:prstGeom>
          <a:solidFill>
            <a:srgbClr val="00C2A8">
              <a:alpha val="8000"/>
            </a:srgbClr>
          </a:solidFill>
          <a:ln w="12700">
            <a:solidFill>
              <a:srgbClr val="00C2A8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AquaSync delivers what others promise.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Secure. Intelligent. Water-efficient irrigation — engineered for the realities of modern agriculture.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286000" y="2651760"/>
            <a:ext cx="7589520" cy="685800"/>
          </a:xfrm>
          <a:prstGeom prst="rect">
            <a:avLst/>
          </a:prstGeom>
          <a:solidFill>
            <a:srgbClr val="1B2C3E"/>
          </a:solidFill>
          <a:ln w="12700">
            <a:solidFill>
              <a:srgbClr val="00C2A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26974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08960" y="26974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Water Savings verified over 6-month pilot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286000" y="3474720"/>
            <a:ext cx="7589520" cy="685800"/>
          </a:xfrm>
          <a:prstGeom prst="rect">
            <a:avLst/>
          </a:prstGeom>
          <a:solidFill>
            <a:srgbClr val="1B2C3E"/>
          </a:solidFill>
          <a:ln w="12700">
            <a:solidFill>
              <a:srgbClr val="00C2A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35204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08960" y="352044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10-layer security — zero incidents in production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86000" y="4297680"/>
            <a:ext cx="7589520" cy="685800"/>
          </a:xfrm>
          <a:prstGeom prst="rect">
            <a:avLst/>
          </a:prstGeom>
          <a:solidFill>
            <a:srgbClr val="1B2C3E"/>
          </a:solidFill>
          <a:ln w="12700">
            <a:solidFill>
              <a:srgbClr val="00C2A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43434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08960" y="43434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scheduling beats manual management by 26% yield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286000" y="5120640"/>
            <a:ext cx="7589520" cy="685800"/>
          </a:xfrm>
          <a:prstGeom prst="rect">
            <a:avLst/>
          </a:prstGeom>
          <a:solidFill>
            <a:srgbClr val="1B2C3E"/>
          </a:solidFill>
          <a:ln w="12700">
            <a:solidFill>
              <a:srgbClr val="00C2A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68880" y="51663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108960" y="51663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at scale: 50+ farms, 500+ nodes supported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aquasync.io  ·  research@aquasync.io  ·  github.com/aquasync-iot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AquaSync — Smart Irrigation System</dc:title>
  <dc:subject>PptxGenJS Presentation</dc:subject>
  <dc:creator>AquaSync Research Team</dc:creator>
  <cp:lastModifiedBy>AquaSync Research Team</cp:lastModifiedBy>
  <cp:revision>1</cp:revision>
  <dcterms:created xsi:type="dcterms:W3CDTF">2026-04-28T05:53:28Z</dcterms:created>
  <dcterms:modified xsi:type="dcterms:W3CDTF">2026-04-28T05:53:28Z</dcterms:modified>
</cp:coreProperties>
</file>